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3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ITC Avant Garde Gothic" panose="020B0502020202020204"/>
      <p:regular r:id="rId16"/>
    </p:embeddedFont>
    <p:embeddedFont>
      <p:font typeface="TT Fors" panose="020B0003030001020000"/>
      <p:regular r:id="rId17"/>
    </p:embeddedFont>
    <p:embeddedFont>
      <p:font typeface="TT Fors Bold" panose="020B0003030001020000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.svg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t="-126" b="-12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9763125" cy="3682999"/>
            <a:chOff x="0" y="0"/>
            <a:chExt cx="13017500" cy="4910666"/>
          </a:xfrm>
        </p:grpSpPr>
        <p:sp>
          <p:nvSpPr>
            <p:cNvPr id="5" name="TextBox 5"/>
            <p:cNvSpPr txBox="1"/>
            <p:nvPr/>
          </p:nvSpPr>
          <p:spPr>
            <a:xfrm>
              <a:off x="0" y="1184275"/>
              <a:ext cx="13017500" cy="37263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000"/>
                </a:lnSpc>
              </a:pPr>
              <a:r>
                <a:rPr lang="en-US" sz="10000" spc="-299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Adaptive Learning System</a:t>
              </a:r>
              <a:endParaRPr lang="en-US" sz="10000" spc="-299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04775"/>
              <a:ext cx="130175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INNOVATIVE LEARNING SOLUTIONS</a:t>
              </a:r>
              <a:endParaRPr lang="en-US" sz="260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3"/>
          <p:cNvGrpSpPr/>
          <p:nvPr/>
        </p:nvGrpSpPr>
        <p:grpSpPr>
          <a:xfrm>
            <a:off x="6403975" y="6531610"/>
            <a:ext cx="8515350" cy="2838450"/>
            <a:chOff x="1805" y="7860"/>
            <a:chExt cx="13410" cy="4470"/>
          </a:xfrm>
        </p:grpSpPr>
        <p:sp>
          <p:nvSpPr>
            <p:cNvPr id="7" name="TextBox 7"/>
            <p:cNvSpPr txBox="1"/>
            <p:nvPr/>
          </p:nvSpPr>
          <p:spPr>
            <a:xfrm>
              <a:off x="2040" y="7860"/>
              <a:ext cx="11330" cy="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</a:pPr>
              <a:r>
                <a:rPr lang="en-GB" altLang="en-US" sz="2600" b="1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</a:t>
              </a:r>
              <a:r>
                <a:rPr lang="en-US" sz="2600" b="1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Presented by </a:t>
              </a:r>
              <a:r>
                <a:rPr lang="en-GB" altLang="en-US" sz="2600" b="1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:</a:t>
              </a:r>
              <a:endParaRPr lang="en-GB" altLang="en-US" sz="2600" b="1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1805" y="8794"/>
              <a:ext cx="13410" cy="3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en-GB" sz="2800" b="1"/>
                <a:t>312822104012 Baskar B</a:t>
              </a:r>
              <a:endParaRPr lang="en-US" altLang="en-GB" sz="2800" b="1"/>
            </a:p>
            <a:p>
              <a:r>
                <a:rPr lang="en-US" altLang="en-GB" sz="2800" b="1"/>
                <a:t>312822104029 Hariharan I </a:t>
              </a:r>
              <a:endParaRPr lang="en-US" altLang="en-GB" sz="2800" b="1"/>
            </a:p>
            <a:p>
              <a:r>
                <a:rPr lang="en-US" altLang="en-GB" sz="2800" b="1"/>
                <a:t>312822104047 Kabilesh R M </a:t>
              </a:r>
              <a:endParaRPr lang="en-US" altLang="en-GB" sz="2800" b="1"/>
            </a:p>
            <a:p>
              <a:r>
                <a:rPr lang="en-US" altLang="en-GB" sz="2800" b="1"/>
                <a:t>312822104048 Kamalesh K</a:t>
              </a:r>
              <a:endParaRPr lang="en-US" altLang="en-GB" sz="2800" b="1"/>
            </a:p>
            <a:p>
              <a:r>
                <a:rPr lang="en-US" altLang="en-GB" sz="2800" b="1"/>
                <a:t>312822104064</a:t>
              </a:r>
              <a:r>
                <a:rPr lang="" altLang="en-US" sz="2800" b="1"/>
                <a:t> </a:t>
              </a:r>
              <a:r>
                <a:rPr lang="en-US" altLang="en-GB" sz="2800" b="1"/>
                <a:t>Manoj</a:t>
              </a:r>
              <a:r>
                <a:rPr lang="" altLang="en-US" sz="2800" b="1"/>
                <a:t> </a:t>
              </a:r>
              <a:r>
                <a:rPr lang="en-US" altLang="en-GB" sz="2800" b="1"/>
                <a:t>kumar</a:t>
              </a:r>
              <a:r>
                <a:rPr lang="" altLang="en-US" sz="2800" b="1"/>
                <a:t> </a:t>
              </a:r>
              <a:r>
                <a:rPr lang="en-US" altLang="en-GB" sz="2800" b="1"/>
                <a:t>M</a:t>
              </a:r>
              <a:endParaRPr lang="en-US" altLang="en-GB" sz="2800" b="1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>
            <p:custDataLst>
              <p:tags r:id="rId1"/>
            </p:custDataLst>
          </p:nvPr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id="3" name="TextBox 3"/>
            <p:cNvSpPr txBox="1"/>
            <p:nvPr>
              <p:custDataLst>
                <p:tags r:id="rId2"/>
              </p:custDataLst>
            </p:nvPr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Utilizing webcam technology, we can </a:t>
              </a:r>
              <a:r>
                <a:rPr lang="en-US" sz="2100" b="1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accurately monitor</a:t>
              </a: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learners' focus levels, ensuring that engagement is optimized and helping identify when students may need support or encouragement.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4" name="TextBox 4"/>
            <p:cNvSpPr txBox="1"/>
            <p:nvPr>
              <p:custDataLst>
                <p:tags r:id="rId3"/>
              </p:custDataLst>
            </p:nvPr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Attention Tracking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5" name="Group 5"/>
          <p:cNvGrpSpPr/>
          <p:nvPr>
            <p:custDataLst>
              <p:tags r:id="rId4"/>
            </p:custDataLst>
          </p:nvPr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id="6" name="TextBox 6"/>
            <p:cNvSpPr txBox="1"/>
            <p:nvPr>
              <p:custDataLst>
                <p:tags r:id="rId5"/>
              </p:custDataLst>
            </p:nvPr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By estimating cognitive load through facial features and gaze patterns, the system can adapt content difficulty, avoiding cognitive overload and allowing learners to progress at their optimal pace.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6"/>
              </p:custDataLst>
            </p:nvPr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Cognitive Load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>
            <p:custDataLst>
              <p:tags r:id="rId7"/>
            </p:custDataLst>
          </p:nvPr>
        </p:nvGrpSpPr>
        <p:grpSpPr>
          <a:xfrm rot="0">
            <a:off x="12172950" y="5143500"/>
            <a:ext cx="4010025" cy="3442335"/>
            <a:chOff x="0" y="0"/>
            <a:chExt cx="5346700" cy="4589780"/>
          </a:xfrm>
        </p:grpSpPr>
        <p:sp>
          <p:nvSpPr>
            <p:cNvPr id="9" name="TextBox 9"/>
            <p:cNvSpPr txBox="1"/>
            <p:nvPr>
              <p:custDataLst>
                <p:tags r:id="rId8"/>
              </p:custDataLst>
            </p:nvPr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The system intelligently personalizes learning paths by adjusting content based on real-time feedback, ensuring that each learner receives tailored support to maximize understanding and retention.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9"/>
              </p:custDataLst>
            </p:nvPr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Adaptive Content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Project Objectives</a:t>
              </a:r>
              <a:endParaRPr lang="en-US" sz="8000" u="none" strike="noStrike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</a:pPr>
              <a:r>
                <a:rPr lang="en-US" sz="3200" u="none" strike="noStrike" spc="-95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Key Goals for Success</a:t>
              </a:r>
              <a:endParaRPr lang="en-US" sz="3200" u="none" strike="noStrike" spc="-95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666750"/>
            <a:ext cx="8324850" cy="5566215"/>
            <a:chOff x="0" y="0"/>
            <a:chExt cx="11099800" cy="7421620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Methodology Overview</a:t>
              </a:r>
              <a:endParaRPr lang="en-US" sz="8000" u="none" strike="noStrike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0966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 spc="-95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Visual Pipeline of Adaptive Learning System</a:t>
              </a:r>
              <a:endParaRPr lang="en-US" sz="3200" u="none" strike="noStrike" spc="-95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97814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u="none" strike="noStrike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This section illustrates the </a:t>
              </a:r>
              <a:r>
                <a:rPr lang="en-US" sz="2100" b="1" u="none" strike="noStrike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interconnected components</a:t>
              </a:r>
              <a:r>
                <a:rPr lang="en-US" sz="2100" u="none" strike="noStrike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of the adaptive learning system, showcasing how cognitive load estimation and attention tracking integrate seamlessly to enhance personalized learning experiences in real-time.</a:t>
              </a:r>
              <a:endParaRPr lang="en-US" sz="2100" u="none" strike="noStrike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t="-205" b="-205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790738" y="1304310"/>
            <a:ext cx="9943937" cy="4851367"/>
            <a:chOff x="0" y="0"/>
            <a:chExt cx="13258582" cy="6468489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258582" cy="19411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555"/>
                </a:lnSpc>
                <a:spcBef>
                  <a:spcPct val="0"/>
                </a:spcBef>
              </a:pPr>
              <a:r>
                <a:rPr lang="en-US" sz="9555" u="none" strike="noStrike" spc="-286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Data Capture</a:t>
              </a:r>
              <a:endParaRPr lang="en-US" sz="9555" u="none" strike="noStrike" spc="-286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593720"/>
              <a:ext cx="13258582" cy="84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85"/>
                </a:lnSpc>
                <a:spcBef>
                  <a:spcPct val="0"/>
                </a:spcBef>
              </a:pPr>
              <a:r>
                <a:rPr lang="en-US" sz="3820" u="none" strike="noStrike" spc="-114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Webcam Face Detection</a:t>
              </a:r>
              <a:endParaRPr lang="en-US" sz="3820" u="none" strike="noStrike" spc="-114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129771"/>
              <a:ext cx="10967912" cy="23387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10"/>
                </a:lnSpc>
              </a:pPr>
              <a:r>
                <a:rPr lang="en-US" sz="2510">
                  <a:solidFill>
                    <a:srgbClr val="0D3B66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This system utilizes </a:t>
              </a:r>
              <a:r>
                <a:rPr lang="en-US" sz="2510" b="1">
                  <a:solidFill>
                    <a:srgbClr val="0D3B66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webcam-based</a:t>
              </a:r>
              <a:r>
                <a:rPr lang="en-US" sz="2510">
                  <a:solidFill>
                    <a:srgbClr val="0D3B66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technology to detect facial features and track gaze, enabling real-time assessment of user engagement and cognitive load during learning activities.</a:t>
              </a:r>
              <a:endParaRPr lang="en-US" sz="2510">
                <a:solidFill>
                  <a:srgbClr val="0D3B66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5516225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Feature Extraction</a:t>
            </a:r>
            <a:endParaRPr lang="en-US" sz="8000" u="none" strike="noStrike" spc="-240">
              <a:solidFill>
                <a:schemeClr val="tx1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15" name="Group 14"/>
          <p:cNvGrpSpPr/>
          <p:nvPr>
            <p:custDataLst>
              <p:tags r:id="rId1"/>
            </p:custDataLst>
          </p:nvPr>
        </p:nvGrpSpPr>
        <p:grpSpPr>
          <a:xfrm>
            <a:off x="1371600" y="3164840"/>
            <a:ext cx="15648940" cy="4552950"/>
            <a:chOff x="840" y="7980"/>
            <a:chExt cx="24644" cy="7170"/>
          </a:xfrm>
        </p:grpSpPr>
        <p:grpSp>
          <p:nvGrpSpPr>
            <p:cNvPr id="3" name="Group 3"/>
            <p:cNvGrpSpPr/>
            <p:nvPr>
              <p:custDataLst>
                <p:tags r:id="rId2"/>
              </p:custDataLst>
            </p:nvPr>
          </p:nvGrpSpPr>
          <p:grpSpPr>
            <a:xfrm rot="0">
              <a:off x="1050" y="12330"/>
              <a:ext cx="10845" cy="2820"/>
              <a:chOff x="0" y="0"/>
              <a:chExt cx="9182100" cy="2387600"/>
            </a:xfrm>
          </p:grpSpPr>
          <p:sp>
            <p:nvSpPr>
              <p:cNvPr id="4" name="TextBox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0" y="934720"/>
                <a:ext cx="9182100" cy="1452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940"/>
                  </a:lnSpc>
                </a:pPr>
                <a:r>
                  <a:rPr lang="en-US" sz="2100" b="1">
                    <a:solidFill>
                      <a:schemeClr val="tx1"/>
                    </a:solidFill>
                    <a:latin typeface="TT Fors Bold" panose="020B0003030001020000"/>
                    <a:ea typeface="TT Fors Bold" panose="020B0003030001020000"/>
                    <a:cs typeface="TT Fors Bold" panose="020B0003030001020000"/>
                    <a:sym typeface="TT Fors Bold" panose="020B0003030001020000"/>
                  </a:rPr>
                  <a:t>Gaze stability</a:t>
                </a: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 indicates how consistently a learner focuses on specific content, affecting their ability to absorb and retain information effectively.</a:t>
                </a:r>
                <a:endPara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endParaRPr>
              </a:p>
            </p:txBody>
          </p:sp>
          <p:sp>
            <p:nvSpPr>
              <p:cNvPr id="5" name="TextBox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0" y="-104775"/>
                <a:ext cx="9182100" cy="6263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sz="2600" u="none" strike="noStrike" spc="-78">
                    <a:solidFill>
                      <a:schemeClr val="tx1"/>
                    </a:solidFill>
                    <a:latin typeface="ITC Avant Garde Gothic" panose="020B0502020202020204"/>
                    <a:ea typeface="ITC Avant Garde Gothic" panose="020B0502020202020204"/>
                    <a:cs typeface="ITC Avant Garde Gothic" panose="020B0502020202020204"/>
                    <a:sym typeface="ITC Avant Garde Gothic" panose="020B0502020202020204"/>
                  </a:rPr>
                  <a:t>Gaze Stability</a:t>
                </a:r>
                <a:endPara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endParaRPr>
              </a:p>
            </p:txBody>
          </p:sp>
        </p:grpSp>
        <p:grpSp>
          <p:nvGrpSpPr>
            <p:cNvPr id="6" name="Group 6"/>
            <p:cNvGrpSpPr/>
            <p:nvPr>
              <p:custDataLst>
                <p:tags r:id="rId5"/>
              </p:custDataLst>
            </p:nvPr>
          </p:nvGrpSpPr>
          <p:grpSpPr>
            <a:xfrm rot="0">
              <a:off x="840" y="7980"/>
              <a:ext cx="11055" cy="2940"/>
              <a:chOff x="-177800" y="-101388"/>
              <a:chExt cx="9359900" cy="2488988"/>
            </a:xfrm>
          </p:grpSpPr>
          <p:sp>
            <p:nvSpPr>
              <p:cNvPr id="7" name="TextBox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0" y="934720"/>
                <a:ext cx="9182100" cy="1452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940"/>
                  </a:lnSpc>
                </a:pP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Measuring </a:t>
                </a:r>
                <a:r>
                  <a:rPr lang="en-US" sz="2100" b="1">
                    <a:solidFill>
                      <a:schemeClr val="tx1"/>
                    </a:solidFill>
                    <a:latin typeface="TT Fors Bold" panose="020B0003030001020000"/>
                    <a:ea typeface="TT Fors Bold" panose="020B0003030001020000"/>
                    <a:cs typeface="TT Fors Bold" panose="020B0003030001020000"/>
                    <a:sym typeface="TT Fors Bold" panose="020B0003030001020000"/>
                  </a:rPr>
                  <a:t>blink rate</a:t>
                </a: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 helps assess user engagement, as increased blinking may indicate cognitive overload or distraction during learning sessions.</a:t>
                </a:r>
                <a:endPara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endParaRPr>
              </a:p>
            </p:txBody>
          </p:sp>
          <p:sp>
            <p:nvSpPr>
              <p:cNvPr id="8" name="TextBox 8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-177800" y="-101388"/>
                <a:ext cx="9182100" cy="6263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sz="2600" u="none" strike="noStrike" spc="-78">
                    <a:solidFill>
                      <a:schemeClr val="tx1"/>
                    </a:solidFill>
                    <a:latin typeface="ITC Avant Garde Gothic" panose="020B0502020202020204"/>
                    <a:ea typeface="ITC Avant Garde Gothic" panose="020B0502020202020204"/>
                    <a:cs typeface="ITC Avant Garde Gothic" panose="020B0502020202020204"/>
                    <a:sym typeface="ITC Avant Garde Gothic" panose="020B0502020202020204"/>
                  </a:rPr>
                  <a:t>Blink Rate</a:t>
                </a:r>
                <a:endPara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endParaRPr>
              </a:p>
            </p:txBody>
          </p:sp>
        </p:grpSp>
        <p:grpSp>
          <p:nvGrpSpPr>
            <p:cNvPr id="9" name="Group 9"/>
            <p:cNvGrpSpPr/>
            <p:nvPr>
              <p:custDataLst>
                <p:tags r:id="rId8"/>
              </p:custDataLst>
            </p:nvPr>
          </p:nvGrpSpPr>
          <p:grpSpPr>
            <a:xfrm rot="0">
              <a:off x="14640" y="12330"/>
              <a:ext cx="10845" cy="2820"/>
              <a:chOff x="0" y="0"/>
              <a:chExt cx="9182100" cy="2387600"/>
            </a:xfrm>
          </p:grpSpPr>
          <p:sp>
            <p:nvSpPr>
              <p:cNvPr id="10" name="TextBox 10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0" y="934720"/>
                <a:ext cx="9182100" cy="1452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940"/>
                  </a:lnSpc>
                </a:pP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Tracking </a:t>
                </a:r>
                <a:r>
                  <a:rPr lang="en-US" sz="2100" b="1">
                    <a:solidFill>
                      <a:schemeClr val="tx1"/>
                    </a:solidFill>
                    <a:latin typeface="TT Fors Bold" panose="020B0003030001020000"/>
                    <a:ea typeface="TT Fors Bold" panose="020B0003030001020000"/>
                    <a:cs typeface="TT Fors Bold" panose="020B0003030001020000"/>
                    <a:sym typeface="TT Fors Bold" panose="020B0003030001020000"/>
                  </a:rPr>
                  <a:t>pupil size</a:t>
                </a: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 variations provides insights into cognitive load, as pupil dilation often correlates with mental effort and emotional responses during learning.</a:t>
                </a:r>
                <a:endPara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0" y="-104775"/>
                <a:ext cx="9182100" cy="6263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sz="2600" u="none" strike="noStrike" spc="-78">
                    <a:solidFill>
                      <a:schemeClr val="tx1"/>
                    </a:solidFill>
                    <a:latin typeface="ITC Avant Garde Gothic" panose="020B0502020202020204"/>
                    <a:ea typeface="ITC Avant Garde Gothic" panose="020B0502020202020204"/>
                    <a:cs typeface="ITC Avant Garde Gothic" panose="020B0502020202020204"/>
                    <a:sym typeface="ITC Avant Garde Gothic" panose="020B0502020202020204"/>
                  </a:rPr>
                  <a:t>Pupil Approximation</a:t>
                </a:r>
                <a:endPara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endParaRPr>
              </a:p>
            </p:txBody>
          </p:sp>
        </p:grpSp>
        <p:grpSp>
          <p:nvGrpSpPr>
            <p:cNvPr id="12" name="Group 12"/>
            <p:cNvGrpSpPr/>
            <p:nvPr>
              <p:custDataLst>
                <p:tags r:id="rId11"/>
              </p:custDataLst>
            </p:nvPr>
          </p:nvGrpSpPr>
          <p:grpSpPr>
            <a:xfrm rot="0">
              <a:off x="14640" y="8100"/>
              <a:ext cx="10845" cy="2820"/>
              <a:chOff x="0" y="0"/>
              <a:chExt cx="9182100" cy="2387600"/>
            </a:xfrm>
          </p:grpSpPr>
          <p:sp>
            <p:nvSpPr>
              <p:cNvPr id="13" name="TextBox 1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0" y="934720"/>
                <a:ext cx="9182100" cy="145288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2940"/>
                  </a:lnSpc>
                </a:pP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Analyzing </a:t>
                </a:r>
                <a:r>
                  <a:rPr lang="en-US" sz="2100" b="1">
                    <a:solidFill>
                      <a:schemeClr val="tx1"/>
                    </a:solidFill>
                    <a:latin typeface="TT Fors Bold" panose="020B0003030001020000"/>
                    <a:ea typeface="TT Fors Bold" panose="020B0003030001020000"/>
                    <a:cs typeface="TT Fors Bold" panose="020B0003030001020000"/>
                    <a:sym typeface="TT Fors Bold" panose="020B0003030001020000"/>
                  </a:rPr>
                  <a:t>head pose</a:t>
                </a:r>
                <a:r>
                  <a:rPr lang="en-US" sz="2100">
                    <a:solidFill>
                      <a:schemeClr val="tx1"/>
                    </a:solidFill>
                    <a:latin typeface="TT Fors" panose="020B0003030001020000"/>
                    <a:ea typeface="TT Fors" panose="020B0003030001020000"/>
                    <a:cs typeface="TT Fors" panose="020B0003030001020000"/>
                    <a:sym typeface="TT Fors" panose="020B0003030001020000"/>
                  </a:rPr>
                  <a:t> assists in understanding user attention direction, allowing the system to adapt content based on where the learner is looking.</a:t>
                </a:r>
                <a:endPara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0" y="-104775"/>
                <a:ext cx="9182100" cy="62632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marL="0" lvl="0" indent="0" algn="l">
                  <a:lnSpc>
                    <a:spcPts val="3640"/>
                  </a:lnSpc>
                  <a:spcBef>
                    <a:spcPct val="0"/>
                  </a:spcBef>
                </a:pPr>
                <a:r>
                  <a:rPr lang="en-US" sz="2600" u="none" strike="noStrike" spc="-78">
                    <a:solidFill>
                      <a:schemeClr val="tx1"/>
                    </a:solidFill>
                    <a:latin typeface="ITC Avant Garde Gothic" panose="020B0502020202020204"/>
                    <a:ea typeface="ITC Avant Garde Gothic" panose="020B0502020202020204"/>
                    <a:cs typeface="ITC Avant Garde Gothic" panose="020B0502020202020204"/>
                    <a:sym typeface="ITC Avant Garde Gothic" panose="020B0502020202020204"/>
                  </a:rPr>
                  <a:t>Head Pose</a:t>
                </a:r>
                <a:endPara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Cognitive Load Estimation</a:t>
              </a:r>
              <a:endParaRPr lang="en-US" sz="8000" u="none" strike="noStrike" spc="-240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 spc="-95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LSTM and Random Forest</a:t>
              </a:r>
              <a:endParaRPr lang="en-US" sz="3200" u="none" strike="noStrike" spc="-95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133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D3B66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Cognitive load estimation is crucial for personalized learning. Utilizing advanced algorithms like LSTM and Random Forest allows for accurate assessment of learners' cognitive states in real-time.</a:t>
              </a:r>
              <a:endParaRPr lang="en-US" sz="2100">
                <a:solidFill>
                  <a:srgbClr val="0D3B66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666750" y="5143500"/>
            <a:ext cx="4010025" cy="3442335"/>
            <a:chOff x="0" y="0"/>
            <a:chExt cx="5346700" cy="4589780"/>
          </a:xfrm>
        </p:grpSpPr>
        <p:sp>
          <p:nvSpPr>
            <p:cNvPr id="3" name="TextBox 3"/>
            <p:cNvSpPr txBox="1"/>
            <p:nvPr/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Focused attention indicates a </a:t>
              </a:r>
              <a:r>
                <a:rPr lang="en-US" sz="2100" b="1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high level of engagement</a:t>
              </a: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and processing. Our system measures eye contact and gaze direction to determine when learners are fully involved in their tasks.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Focused Attention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6419850" y="5143500"/>
            <a:ext cx="4010025" cy="3442335"/>
            <a:chOff x="0" y="0"/>
            <a:chExt cx="5346700" cy="45897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1557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When distraction occurs, the system detects </a:t>
              </a:r>
              <a:r>
                <a:rPr lang="en-US" sz="2100" b="1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deviations in gaze</a:t>
              </a: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and attention metrics. This information helps educators intervene and adjust content to recapture learner focus and attention.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Distracted Behavior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2172950" y="5143500"/>
            <a:ext cx="4010025" cy="3813810"/>
            <a:chOff x="0" y="0"/>
            <a:chExt cx="5346700" cy="5085080"/>
          </a:xfrm>
        </p:grpSpPr>
        <p:sp>
          <p:nvSpPr>
            <p:cNvPr id="9" name="TextBox 9"/>
            <p:cNvSpPr txBox="1"/>
            <p:nvPr/>
          </p:nvSpPr>
          <p:spPr>
            <a:xfrm>
              <a:off x="0" y="1155700"/>
              <a:ext cx="5346700" cy="3929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The system identifies drowsiness through </a:t>
              </a:r>
              <a:r>
                <a:rPr lang="en-US" sz="2100" b="1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changes in blink rates</a:t>
              </a: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and facial expressions. Recognizing this state allows for timely adjustments, ensuring learners remain alert and receptive throughout the learning experience.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Drowsy State</a:t>
              </a:r>
              <a:endParaRPr lang="en-US" sz="2600" u="none" strike="noStrike" spc="-7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666750" y="666750"/>
            <a:ext cx="11201400" cy="2162175"/>
            <a:chOff x="0" y="0"/>
            <a:chExt cx="14935200" cy="28829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14935200" cy="16266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Attention Classification</a:t>
              </a:r>
              <a:endParaRPr lang="en-US" sz="8000" u="none" strike="noStrike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235200"/>
              <a:ext cx="1342390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</a:pPr>
              <a:r>
                <a:rPr lang="en-US" sz="3200" u="none" strike="noStrike" spc="-95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Tracking Focus and Distraction</a:t>
              </a:r>
              <a:endParaRPr lang="en-US" sz="3200" u="none" strike="noStrike" spc="-95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5442585"/>
            <a:chOff x="0" y="0"/>
            <a:chExt cx="11099800" cy="725678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Adaptive Learning Engine</a:t>
              </a:r>
              <a:endParaRPr lang="en-US" sz="8000" u="none" strike="noStrike" spc="-240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 spc="-95">
                  <a:solidFill>
                    <a:srgbClr val="0D3B66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Personalizing the Experience</a:t>
              </a:r>
              <a:endParaRPr lang="en-US" sz="3200" u="none" strike="noStrike" spc="-95">
                <a:solidFill>
                  <a:srgbClr val="0D3B66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13300"/>
              <a:ext cx="9182100" cy="244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0D3B66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The adaptive engine intelligently adjusts </a:t>
              </a:r>
              <a:r>
                <a:rPr lang="en-US" sz="2100" b="1">
                  <a:solidFill>
                    <a:srgbClr val="0D3B66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learning difficulty</a:t>
              </a:r>
              <a:r>
                <a:rPr lang="en-US" sz="2100">
                  <a:solidFill>
                    <a:srgbClr val="0D3B66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, provides tailored hints, and offers summaries, enhancing user engagement and optimizing retention based on real-time cognitive assessments.</a:t>
              </a:r>
              <a:endParaRPr lang="en-US" sz="2100">
                <a:solidFill>
                  <a:srgbClr val="0D3B66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1"/>
              <a:stretch>
                <a:fillRect t="-271" b="-27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666750" y="666750"/>
            <a:ext cx="8324850" cy="5071110"/>
            <a:chOff x="0" y="0"/>
            <a:chExt cx="11099800" cy="676148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972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Visualization &amp; Feedback</a:t>
              </a:r>
              <a:endParaRPr lang="en-US" sz="8000" u="none" strike="noStrike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u="none" strike="noStrike" spc="-95">
                  <a:solidFill>
                    <a:schemeClr val="tx1"/>
                  </a:solidFill>
                  <a:latin typeface="ITC Avant Garde Gothic" panose="020B0502020202020204"/>
                  <a:ea typeface="ITC Avant Garde Gothic" panose="020B0502020202020204"/>
                  <a:cs typeface="ITC Avant Garde Gothic" panose="020B0502020202020204"/>
                  <a:sym typeface="ITC Avant Garde Gothic" panose="020B0502020202020204"/>
                </a:rPr>
                <a:t>Dashboards for Analysis</a:t>
              </a:r>
              <a:endParaRPr lang="en-US" sz="3200" u="none" strike="noStrike" spc="-95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133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Interactive dashboards visualize user performance and engagement, enabling educators to adapt learning materials based on real-time data, enhancing </a:t>
              </a:r>
              <a:r>
                <a:rPr lang="en-US" sz="2100" b="1">
                  <a:solidFill>
                    <a:schemeClr val="tx1"/>
                  </a:solidFill>
                  <a:latin typeface="TT Fors Bold" panose="020B0003030001020000"/>
                  <a:ea typeface="TT Fors Bold" panose="020B0003030001020000"/>
                  <a:cs typeface="TT Fors Bold" panose="020B0003030001020000"/>
                  <a:sym typeface="TT Fors Bold" panose="020B0003030001020000"/>
                </a:rPr>
                <a:t>student retention</a:t>
              </a:r>
              <a:r>
                <a:rPr lang="en-US" sz="2100">
                  <a:solidFill>
                    <a:schemeClr val="tx1"/>
                  </a:solidFill>
                  <a:latin typeface="TT Fors" panose="020B0003030001020000"/>
                  <a:ea typeface="TT Fors" panose="020B0003030001020000"/>
                  <a:cs typeface="TT Fors" panose="020B0003030001020000"/>
                  <a:sym typeface="TT Fors" panose="020B0003030001020000"/>
                </a:rPr>
                <a:t> and overall effectiveness.</a:t>
              </a:r>
              <a:endParaRPr lang="en-US" sz="2100">
                <a:solidFill>
                  <a:schemeClr val="tx1"/>
                </a:solidFill>
                <a:latin typeface="TT Fors" panose="020B0003030001020000"/>
                <a:ea typeface="TT Fors" panose="020B0003030001020000"/>
                <a:cs typeface="TT Fors" panose="020B0003030001020000"/>
                <a:sym typeface="TT Fors" panose="020B000303000102000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1120140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References and Resources</a:t>
            </a:r>
            <a:endParaRPr lang="en-US" sz="8000" spc="-240">
              <a:solidFill>
                <a:schemeClr val="tx1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631546"/>
            <a:ext cx="16504202" cy="3842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4665" lvl="1" indent="-247015" algn="just">
              <a:lnSpc>
                <a:spcPts val="2290"/>
              </a:lnSpc>
              <a:buFont typeface="Arial" panose="020B0604020202020204"/>
              <a:buChar char="•"/>
            </a:pPr>
            <a:r>
              <a:rPr lang="en-US" sz="2290" spc="-6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E. Bozkır, D. Geisler, and E. Kasneci, “Person-independent, privacy-preserving, and real-time assessment of cognitive load using eye tracking in a virtual reality setup,” Proc. 2019 IEEE Conf. on Virtual Reality and 3D User Interfaces (VR), Osaka, Japan — IEEE Xplore link:  https://ieeexplore.ieee.org/document/8797758</a:t>
            </a:r>
            <a:endParaRPr lang="en-US" sz="2290" spc="-68">
              <a:solidFill>
                <a:schemeClr val="tx1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algn="just">
              <a:lnSpc>
                <a:spcPts val="2290"/>
              </a:lnSpc>
            </a:pPr>
            <a:endParaRPr>
              <a:solidFill>
                <a:schemeClr val="tx1"/>
              </a:solidFill>
            </a:endParaRPr>
          </a:p>
          <a:p>
            <a:pPr algn="just">
              <a:lnSpc>
                <a:spcPts val="2290"/>
              </a:lnSpc>
            </a:pPr>
            <a:endParaRPr>
              <a:solidFill>
                <a:schemeClr val="tx1"/>
              </a:solidFill>
            </a:endParaRPr>
          </a:p>
          <a:p>
            <a:pPr algn="just">
              <a:lnSpc>
                <a:spcPts val="2290"/>
              </a:lnSpc>
            </a:pPr>
            <a:endParaRPr>
              <a:solidFill>
                <a:schemeClr val="tx1"/>
              </a:solidFill>
            </a:endParaRPr>
          </a:p>
          <a:p>
            <a:pPr marL="494665" lvl="1" indent="-247015" algn="just">
              <a:lnSpc>
                <a:spcPts val="2290"/>
              </a:lnSpc>
              <a:buFont typeface="Arial" panose="020B0604020202020204"/>
              <a:buChar char="•"/>
            </a:pPr>
            <a:r>
              <a:rPr lang="en-US" sz="2290" spc="-6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"Review of Eye Tracking Metrics Involved in Emotional and Cognitive Processes" - Authors : Vasileios Skaramagkas; Giorgos Giannakakis; Emmanouil Ktistakis; Dimitris Manousos; Ioannis Karatzanis; Nikolaos S. Tachos </a:t>
            </a:r>
            <a:endParaRPr lang="en-US" sz="2290" spc="-68">
              <a:solidFill>
                <a:schemeClr val="tx1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algn="just">
              <a:lnSpc>
                <a:spcPts val="2290"/>
              </a:lnSpc>
              <a:spcBef>
                <a:spcPct val="0"/>
              </a:spcBef>
            </a:pPr>
            <a:r>
              <a:rPr lang="en-US" sz="2290" spc="-68">
                <a:solidFill>
                  <a:schemeClr val="tx1"/>
                </a:solidFill>
                <a:latin typeface="ITC Avant Garde Gothic" panose="020B0502020202020204"/>
                <a:ea typeface="ITC Avant Garde Gothic" panose="020B0502020202020204"/>
                <a:cs typeface="ITC Avant Garde Gothic" panose="020B0502020202020204"/>
                <a:sym typeface="ITC Avant Garde Gothic" panose="020B0502020202020204"/>
              </a:rPr>
              <a:t>       IEEE XPLORE link: https://ieeexplore.ieee.org/document/9380366 </a:t>
            </a:r>
            <a:endParaRPr lang="en-US" sz="2290" spc="-68">
              <a:solidFill>
                <a:schemeClr val="tx1"/>
              </a:solidFill>
              <a:latin typeface="ITC Avant Garde Gothic" panose="020B0502020202020204"/>
              <a:ea typeface="ITC Avant Garde Gothic" panose="020B0502020202020204"/>
              <a:cs typeface="ITC Avant Garde Gothic" panose="020B0502020202020204"/>
              <a:sym typeface="ITC Avant Garde Gothic" panose="020B0502020202020204"/>
            </a:endParaRPr>
          </a:p>
          <a:p>
            <a:pPr algn="just">
              <a:lnSpc>
                <a:spcPts val="2290"/>
              </a:lnSpc>
              <a:spcBef>
                <a:spcPct val="0"/>
              </a:spcBef>
            </a:pPr>
            <a:endParaRPr>
              <a:solidFill>
                <a:schemeClr val="tx1"/>
              </a:solidFill>
            </a:endParaRPr>
          </a:p>
          <a:p>
            <a:pPr algn="just">
              <a:lnSpc>
                <a:spcPts val="2290"/>
              </a:lnSpc>
              <a:spcBef>
                <a:spcPct val="0"/>
              </a:spcBef>
            </a:pPr>
            <a:endParaRPr>
              <a:solidFill>
                <a:schemeClr val="tx1"/>
              </a:solidFill>
            </a:endParaRPr>
          </a:p>
          <a:p>
            <a:pPr algn="just">
              <a:lnSpc>
                <a:spcPts val="2290"/>
              </a:lnSpc>
              <a:spcBef>
                <a:spcPct val="0"/>
              </a:spcBef>
            </a:pPr>
            <a:endParaRPr>
              <a:solidFill>
                <a:schemeClr val="tx1"/>
              </a:solidFill>
            </a:endParaRPr>
          </a:p>
          <a:p>
            <a:pPr algn="just">
              <a:lnSpc>
                <a:spcPts val="2290"/>
              </a:lnSpc>
              <a:spcBef>
                <a:spcPct val="0"/>
              </a:spcBef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2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3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4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5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6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7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8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9.xml><?xml version="1.0" encoding="utf-8"?>
<p:tagLst xmlns:p="http://schemas.openxmlformats.org/presentationml/2006/main">
  <p:tag name="KSO_WM_DIAGRAM_VIRTUALLY_FRAME" val="{&quot;height&quot;:271.05,&quot;left&quot;:52.5,&quot;top&quot;:405,&quot;width&quot;:1221.75}"/>
</p:tagLst>
</file>

<file path=ppt/tags/tag10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1.xml><?xml version="1.0" encoding="utf-8"?>
<p:tagLst xmlns:p="http://schemas.openxmlformats.org/presentationml/2006/main">
  <p:tag name="KSO_WM_DIAGRAM_VIRTUALLY_FRAME" val="{&quot;height&quot;:358.49275590551173,&quot;left&quot;:42,&quot;top&quot;:399.00724409448827,&quot;width&quot;:1232.25}"/>
</p:tagLst>
</file>

<file path=ppt/tags/tag12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3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4.xml><?xml version="1.0" encoding="utf-8"?>
<p:tagLst xmlns:p="http://schemas.openxmlformats.org/presentationml/2006/main">
  <p:tag name="KSO_WM_DIAGRAM_VIRTUALLY_FRAME" val="{&quot;height&quot;:358.49275590551173,&quot;left&quot;:42,&quot;top&quot;:399.00724409448827,&quot;width&quot;:1232.25}"/>
</p:tagLst>
</file>

<file path=ppt/tags/tag15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6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7.xml><?xml version="1.0" encoding="utf-8"?>
<p:tagLst xmlns:p="http://schemas.openxmlformats.org/presentationml/2006/main">
  <p:tag name="KSO_WM_DIAGRAM_VIRTUALLY_FRAME" val="{&quot;height&quot;:358.49275590551173,&quot;left&quot;:42,&quot;top&quot;:399.00724409448827,&quot;width&quot;:1232.25}"/>
</p:tagLst>
</file>

<file path=ppt/tags/tag18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19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20.xml><?xml version="1.0" encoding="utf-8"?>
<p:tagLst xmlns:p="http://schemas.openxmlformats.org/presentationml/2006/main">
  <p:tag name="KSO_WM_DIAGRAM_VIRTUALLY_FRAME" val="{&quot;height&quot;:358.49275590551173,&quot;left&quot;:42,&quot;top&quot;:399.00724409448827,&quot;width&quot;:1232.25}"/>
</p:tagLst>
</file>

<file path=ppt/tags/tag21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ags/tag22.xml><?xml version="1.0" encoding="utf-8"?>
<p:tagLst xmlns:p="http://schemas.openxmlformats.org/presentationml/2006/main">
  <p:tag name="KSO_WM_DIAGRAM_VIRTUALLY_FRAME" val="{&quot;height&quot;:508.3,&quot;left&quot;:42,&quot;top&quot;:249.2,&quot;width&quot;:1298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4098</Words>
  <Application>WPS Presentation</Application>
  <PresentationFormat>On-screen Show (4:3)</PresentationFormat>
  <Paragraphs>105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ITC Avant Garde Gothic</vt:lpstr>
      <vt:lpstr>TT Fors</vt:lpstr>
      <vt:lpstr>TT Fors Bold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Adaptive Learning System</dc:title>
  <dc:creator/>
  <dc:description>Presentation - Adaptive Learning System</dc:description>
  <cp:lastModifiedBy>Aswin Datha</cp:lastModifiedBy>
  <cp:revision>2</cp:revision>
  <dcterms:created xsi:type="dcterms:W3CDTF">2006-08-16T00:00:00Z</dcterms:created>
  <dcterms:modified xsi:type="dcterms:W3CDTF">2025-11-06T04:10:36Z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DA6FFB1F0BF54135BE687FC52C995E9A_12</vt:lpwstr>
  </property>
  <property fmtid="{D5CDD505-2E9C-101B-9397-08002B2CF9AE}" pid="3" name="KSOProductBuildVer">
    <vt:lpwstr>2057-12.2.0.23131</vt:lpwstr>
  </property>
</Properties>
</file>